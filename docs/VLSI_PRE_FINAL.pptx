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4" r:id="rId1"/>
  </p:sldMasterIdLst>
  <p:notesMasterIdLst>
    <p:notesMasterId r:id="rId2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8FF61D-A0FE-4CFE-B071-DDFA020354F0}" type="datetimeFigureOut">
              <a:rPr lang="en-US" smtClean="0"/>
              <a:t>25-Apr-25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5C416E-37BD-489C-A04F-8B920FC3BDC8}" type="slidenum">
              <a:rPr lang="en-US" smtClean="0"/>
              <a:t>‹#›</a:t>
            </a:fld>
            <a:endParaRPr lang="en-US"/>
          </a:p>
        </p:txBody>
      </p:sp>
    </p:spTree>
    <p:extLst>
      <p:ext uri="{BB962C8B-B14F-4D97-AF65-F5344CB8AC3E}">
        <p14:creationId xmlns:p14="http://schemas.microsoft.com/office/powerpoint/2010/main" val="1963886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04DDD6-2920-2747-BB7E-A0EF3559133F}" type="slidenum">
              <a:rPr lang="en-US" smtClean="0"/>
              <a:t>1</a:t>
            </a:fld>
            <a:endParaRPr lang="en-US"/>
          </a:p>
        </p:txBody>
      </p:sp>
    </p:spTree>
    <p:extLst>
      <p:ext uri="{BB962C8B-B14F-4D97-AF65-F5344CB8AC3E}">
        <p14:creationId xmlns:p14="http://schemas.microsoft.com/office/powerpoint/2010/main" val="2961784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0EE5CCB-E1DB-42B9-8C5F-504716C129D4}" type="datetimeFigureOut">
              <a:rPr lang="en-US" smtClean="0"/>
              <a:t>25-Apr-25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4110752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60EE5CCB-E1DB-42B9-8C5F-504716C129D4}" type="datetimeFigureOut">
              <a:rPr lang="en-US" smtClean="0"/>
              <a:t>25-Apr-25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3817610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EE5CCB-E1DB-42B9-8C5F-504716C129D4}" type="datetimeFigureOut">
              <a:rPr lang="en-US" smtClean="0"/>
              <a:t>25-Apr-25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3345683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0EE5CCB-E1DB-42B9-8C5F-504716C129D4}" type="datetimeFigureOut">
              <a:rPr lang="en-US" smtClean="0"/>
              <a:t>25-Apr-25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1557657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0EE5CCB-E1DB-42B9-8C5F-504716C129D4}" type="datetimeFigureOut">
              <a:rPr lang="en-US" smtClean="0"/>
              <a:t>25-Apr-25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503232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60EE5CCB-E1DB-42B9-8C5F-504716C129D4}" type="datetimeFigureOut">
              <a:rPr lang="en-US" smtClean="0"/>
              <a:t>25-Apr-25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4218293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0EE5CCB-E1DB-42B9-8C5F-504716C129D4}" type="datetimeFigureOut">
              <a:rPr lang="en-US" smtClean="0"/>
              <a:t>25-Apr-25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2814287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60EE5CCB-E1DB-42B9-8C5F-504716C129D4}" type="datetimeFigureOut">
              <a:rPr lang="en-US" smtClean="0"/>
              <a:t>25-Apr-25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255788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EE5CCB-E1DB-42B9-8C5F-504716C129D4}" type="datetimeFigureOut">
              <a:rPr lang="en-US" smtClean="0"/>
              <a:t>25-Apr-25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1851486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EE5CCB-E1DB-42B9-8C5F-504716C129D4}" type="datetimeFigureOut">
              <a:rPr lang="en-US" smtClean="0"/>
              <a:t>25-Apr-25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347058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EE5CCB-E1DB-42B9-8C5F-504716C129D4}" type="datetimeFigureOut">
              <a:rPr lang="en-US" smtClean="0"/>
              <a:t>25-Apr-25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149019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EE5CCB-E1DB-42B9-8C5F-504716C129D4}" type="datetimeFigureOut">
              <a:rPr lang="en-US" smtClean="0"/>
              <a:t>25-Apr-25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C4E15-B25C-4F31-8912-6337C9BE18B7}"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973894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EE5CCB-E1DB-42B9-8C5F-504716C129D4}" type="datetimeFigureOut">
              <a:rPr lang="en-US" smtClean="0"/>
              <a:t>25-Apr-25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3687532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EE5CCB-E1DB-42B9-8C5F-504716C129D4}" type="datetimeFigureOut">
              <a:rPr lang="en-US" smtClean="0"/>
              <a:t>25-Apr-25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3004908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EE5CCB-E1DB-42B9-8C5F-504716C129D4}" type="datetimeFigureOut">
              <a:rPr lang="en-US" smtClean="0"/>
              <a:t>25-Apr-25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13378903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0EE5CCB-E1DB-42B9-8C5F-504716C129D4}" type="datetimeFigureOut">
              <a:rPr lang="en-US" smtClean="0"/>
              <a:t>25-Apr-25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2080125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0EE5CCB-E1DB-42B9-8C5F-504716C129D4}" type="datetimeFigureOut">
              <a:rPr lang="en-US" smtClean="0"/>
              <a:t>25-Apr-25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C4E15-B25C-4F31-8912-6337C9BE18B7}" type="slidenum">
              <a:rPr lang="en-US" smtClean="0"/>
              <a:t>‹#›</a:t>
            </a:fld>
            <a:endParaRPr lang="en-US"/>
          </a:p>
        </p:txBody>
      </p:sp>
    </p:spTree>
    <p:extLst>
      <p:ext uri="{BB962C8B-B14F-4D97-AF65-F5344CB8AC3E}">
        <p14:creationId xmlns:p14="http://schemas.microsoft.com/office/powerpoint/2010/main" val="3304535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0EE5CCB-E1DB-42B9-8C5F-504716C129D4}" type="datetimeFigureOut">
              <a:rPr lang="en-US" smtClean="0"/>
              <a:t>25-Apr-25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0CC4E15-B25C-4F31-8912-6337C9BE18B7}" type="slidenum">
              <a:rPr lang="en-US" smtClean="0"/>
              <a:t>‹#›</a:t>
            </a:fld>
            <a:endParaRPr lang="en-US"/>
          </a:p>
        </p:txBody>
      </p:sp>
    </p:spTree>
    <p:extLst>
      <p:ext uri="{BB962C8B-B14F-4D97-AF65-F5344CB8AC3E}">
        <p14:creationId xmlns:p14="http://schemas.microsoft.com/office/powerpoint/2010/main" val="2445733156"/>
      </p:ext>
    </p:extLst>
  </p:cSld>
  <p:clrMap bg1="dk1" tx1="lt1" bg2="dk2" tx2="lt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hyperlink" Target="https://www.google.com/url?sa=t&amp;source=web&amp;rct=j&amp;opi=89978449&amp;url=https://sbmicro.org.br/sforum-eventos/sforum2001/godoi.pdf&amp;ved=2ahUKEwiik5PI07CLAxUVSmwGHeYmN0UQFnoECCgQAQ&amp;sqi=2&amp;usg=AOvVaw2oc2btt1uS-tOxObN9qhbn" TargetMode="External"/><Relationship Id="rId2" Type="http://schemas.openxmlformats.org/officeDocument/2006/relationships/hyperlink" Target="https://www.ijera.com/papers/Vol3_issue5/LO3519791983.pdf"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6E2050-FA73-A4D4-B03B-06177D2711EB}"/>
              </a:ext>
            </a:extLst>
          </p:cNvPr>
          <p:cNvSpPr>
            <a:spLocks noGrp="1"/>
          </p:cNvSpPr>
          <p:nvPr>
            <p:ph type="ctrTitle"/>
          </p:nvPr>
        </p:nvSpPr>
        <p:spPr>
          <a:xfrm>
            <a:off x="1538288" y="738515"/>
            <a:ext cx="9144000" cy="3668111"/>
          </a:xfrm>
        </p:spPr>
        <p:txBody>
          <a:bodyPr>
            <a:normAutofit fontScale="90000"/>
          </a:bodyPr>
          <a:lstStyle/>
          <a:p>
            <a:pPr marL="0" marR="0" algn="ctr">
              <a:lnSpc>
                <a:spcPct val="115000"/>
              </a:lnSpc>
              <a:spcAft>
                <a:spcPts val="800"/>
              </a:spcAft>
            </a:pPr>
            <a:r>
              <a:rPr lang="en-US" sz="2400" kern="100" dirty="0" smtClean="0">
                <a:effectLst/>
                <a:latin typeface="Times New Roman" panose="02020603050405020304" pitchFamily="18" charset="0"/>
                <a:ea typeface="Aptos" panose="020B0004020202020204" pitchFamily="34" charset="0"/>
                <a:cs typeface="Times New Roman" panose="02020603050405020304" pitchFamily="18" charset="0"/>
              </a:rPr>
              <a:t/>
            </a:r>
            <a:br>
              <a:rPr lang="en-US" sz="2400" kern="100" dirty="0" smtClean="0">
                <a:effectLst/>
                <a:latin typeface="Times New Roman" panose="02020603050405020304" pitchFamily="18" charset="0"/>
                <a:ea typeface="Aptos" panose="020B0004020202020204" pitchFamily="34" charset="0"/>
                <a:cs typeface="Times New Roman" panose="02020603050405020304" pitchFamily="18" charset="0"/>
              </a:rPr>
            </a:br>
            <a:r>
              <a:rPr lang="en-US" sz="2400" kern="100" dirty="0" smtClean="0">
                <a:effectLst/>
                <a:latin typeface="Times New Roman" panose="02020603050405020304" pitchFamily="18" charset="0"/>
                <a:ea typeface="Aptos" panose="020B0004020202020204" pitchFamily="34" charset="0"/>
                <a:cs typeface="Times New Roman" panose="02020603050405020304" pitchFamily="18" charset="0"/>
              </a:rPr>
              <a:t> </a:t>
            </a:r>
            <a:br>
              <a:rPr lang="en-US" sz="2400" kern="100" dirty="0" smtClean="0">
                <a:effectLst/>
                <a:latin typeface="Times New Roman" panose="02020603050405020304" pitchFamily="18" charset="0"/>
                <a:ea typeface="Aptos" panose="020B0004020202020204" pitchFamily="34" charset="0"/>
                <a:cs typeface="Times New Roman" panose="02020603050405020304" pitchFamily="18" charset="0"/>
              </a:rPr>
            </a:br>
            <a: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t/>
            </a:r>
            <a:b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br>
            <a: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t/>
            </a:r>
            <a:b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br>
            <a: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t/>
            </a:r>
            <a:b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br>
            <a: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t/>
            </a:r>
            <a:b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br>
            <a: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t/>
            </a:r>
            <a:b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br>
            <a: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t/>
            </a:r>
            <a:b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br>
            <a: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t/>
            </a:r>
            <a:br>
              <a:rPr lang="en-US" sz="2400" kern="100" dirty="0" smtClean="0">
                <a:latin typeface="Times New Roman" panose="02020603050405020304" pitchFamily="18" charset="0"/>
                <a:ea typeface="Aptos" panose="020B0004020202020204" pitchFamily="34" charset="0"/>
                <a:cs typeface="Times New Roman" panose="02020603050405020304" pitchFamily="18" charset="0"/>
              </a:rPr>
            </a:br>
            <a:r>
              <a:rPr lang="en-US" sz="2400" b="1" u="sng" kern="100" dirty="0" smtClean="0">
                <a:effectLst/>
                <a:latin typeface="Times New Roman" panose="02020603050405020304" pitchFamily="18" charset="0"/>
                <a:ea typeface="Aptos" panose="020B0004020202020204" pitchFamily="34" charset="0"/>
                <a:cs typeface="Times New Roman" panose="02020603050405020304" pitchFamily="18" charset="0"/>
              </a:rPr>
              <a:t>VLSI SYSTEM DESIGN-BECE303L</a:t>
            </a:r>
            <a:br>
              <a:rPr lang="en-US" sz="2400" b="1" u="sng" kern="100" dirty="0" smtClean="0">
                <a:effectLst/>
                <a:latin typeface="Times New Roman" panose="02020603050405020304" pitchFamily="18" charset="0"/>
                <a:ea typeface="Aptos" panose="020B0004020202020204" pitchFamily="34" charset="0"/>
                <a:cs typeface="Times New Roman" panose="02020603050405020304" pitchFamily="18" charset="0"/>
              </a:rPr>
            </a:br>
            <a:r>
              <a:rPr lang="en-US" sz="2400" b="1" u="sng" kern="100" dirty="0" smtClean="0">
                <a:effectLst/>
                <a:latin typeface="Times New Roman" panose="02020603050405020304" pitchFamily="18" charset="0"/>
                <a:ea typeface="Aptos" panose="020B0004020202020204" pitchFamily="34" charset="0"/>
                <a:cs typeface="Times New Roman" panose="02020603050405020304" pitchFamily="18" charset="0"/>
              </a:rPr>
              <a:t> PROJECT REVIEW</a:t>
            </a:r>
            <a:r>
              <a:rPr lang="en-US" sz="2400" kern="100" dirty="0" smtClean="0">
                <a:effectLst/>
                <a:latin typeface="Times New Roman" panose="02020603050405020304" pitchFamily="18" charset="0"/>
                <a:ea typeface="Aptos" panose="020B0004020202020204" pitchFamily="34" charset="0"/>
                <a:cs typeface="Times New Roman" panose="02020603050405020304" pitchFamily="18" charset="0"/>
              </a:rPr>
              <a:t/>
            </a:r>
            <a:br>
              <a:rPr lang="en-US" sz="2400" kern="100" dirty="0" smtClean="0">
                <a:effectLst/>
                <a:latin typeface="Times New Roman" panose="02020603050405020304" pitchFamily="18" charset="0"/>
                <a:ea typeface="Aptos" panose="020B0004020202020204" pitchFamily="34" charset="0"/>
                <a:cs typeface="Times New Roman" panose="02020603050405020304" pitchFamily="18" charset="0"/>
              </a:rPr>
            </a:br>
            <a:r>
              <a:rPr lang="en-US" sz="2400" b="1" u="sng" kern="100" dirty="0" smtClean="0">
                <a:effectLst/>
                <a:latin typeface="Times New Roman" panose="02020603050405020304" pitchFamily="18" charset="0"/>
                <a:ea typeface="Aptos" panose="020B0004020202020204" pitchFamily="34" charset="0"/>
                <a:cs typeface="Times New Roman" panose="02020603050405020304" pitchFamily="18" charset="0"/>
              </a:rPr>
              <a:t>TITLE </a:t>
            </a:r>
            <a:r>
              <a:rPr lang="en-US" sz="2400" kern="100" dirty="0" smtClean="0">
                <a:effectLst/>
                <a:latin typeface="Times New Roman" panose="02020603050405020304" pitchFamily="18" charset="0"/>
                <a:ea typeface="Aptos" panose="020B0004020202020204" pitchFamily="34" charset="0"/>
                <a:cs typeface="Times New Roman" panose="02020603050405020304" pitchFamily="18" charset="0"/>
              </a:rPr>
              <a:t/>
            </a:r>
            <a:br>
              <a:rPr lang="en-US" sz="2400" kern="100" dirty="0" smtClean="0">
                <a:effectLst/>
                <a:latin typeface="Times New Roman" panose="02020603050405020304" pitchFamily="18" charset="0"/>
                <a:ea typeface="Aptos" panose="020B0004020202020204" pitchFamily="34" charset="0"/>
                <a:cs typeface="Times New Roman" panose="02020603050405020304" pitchFamily="18" charset="0"/>
              </a:rPr>
            </a:br>
            <a:r>
              <a:rPr lang="en-US" sz="2400" kern="100" dirty="0" smtClean="0">
                <a:effectLst/>
                <a:latin typeface="Times New Roman" panose="02020603050405020304" pitchFamily="18" charset="0"/>
                <a:ea typeface="Aptos" panose="020B0004020202020204" pitchFamily="34" charset="0"/>
                <a:cs typeface="Times New Roman" panose="02020603050405020304" pitchFamily="18" charset="0"/>
              </a:rPr>
              <a:t>Binary </a:t>
            </a:r>
            <a:r>
              <a:rPr lang="en-US" sz="2400" kern="100" dirty="0" err="1" smtClean="0">
                <a:effectLst/>
                <a:latin typeface="Times New Roman" panose="02020603050405020304" pitchFamily="18" charset="0"/>
                <a:ea typeface="Aptos" panose="020B0004020202020204" pitchFamily="34" charset="0"/>
                <a:cs typeface="Times New Roman" panose="02020603050405020304" pitchFamily="18" charset="0"/>
              </a:rPr>
              <a:t>subtractor</a:t>
            </a:r>
            <a:r>
              <a:rPr lang="en-US" sz="2400" kern="100" dirty="0" smtClean="0">
                <a:effectLst/>
                <a:latin typeface="Times New Roman" panose="02020603050405020304" pitchFamily="18" charset="0"/>
                <a:ea typeface="Aptos" panose="020B0004020202020204" pitchFamily="34" charset="0"/>
                <a:cs typeface="Times New Roman" panose="02020603050405020304" pitchFamily="18" charset="0"/>
              </a:rPr>
              <a:t> circuit design using different approaches to trade-off delay and area.</a:t>
            </a:r>
            <a:r>
              <a:rPr lang="en-US" sz="1800" kern="100" dirty="0" smtClean="0">
                <a:effectLst/>
                <a:latin typeface="Aptos" panose="020B0004020202020204" pitchFamily="34" charset="0"/>
                <a:ea typeface="Aptos" panose="020B0004020202020204" pitchFamily="34" charset="0"/>
                <a:cs typeface="Times New Roman" panose="02020603050405020304" pitchFamily="18" charset="0"/>
              </a:rPr>
              <a:t/>
            </a:r>
            <a:br>
              <a:rPr lang="en-US" sz="1800" kern="100" dirty="0" smtClean="0">
                <a:effectLst/>
                <a:latin typeface="Aptos" panose="020B0004020202020204" pitchFamily="34" charset="0"/>
                <a:ea typeface="Aptos" panose="020B0004020202020204" pitchFamily="34" charset="0"/>
                <a:cs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xmlns="" id="{AB56C2BB-823F-3211-86A6-BD52320FE92F}"/>
              </a:ext>
            </a:extLst>
          </p:cNvPr>
          <p:cNvSpPr>
            <a:spLocks noGrp="1"/>
          </p:cNvSpPr>
          <p:nvPr>
            <p:ph type="subTitle" idx="1"/>
          </p:nvPr>
        </p:nvSpPr>
        <p:spPr>
          <a:xfrm>
            <a:off x="1697459" y="3814763"/>
            <a:ext cx="8825658" cy="2586037"/>
          </a:xfrm>
        </p:spPr>
        <p:txBody>
          <a:bodyPr>
            <a:normAutofit fontScale="92500" lnSpcReduction="20000"/>
          </a:bodyPr>
          <a:lstStyle/>
          <a:p>
            <a:pPr algn="ctr"/>
            <a:r>
              <a:rPr lang="en-US" sz="2200" b="1" u="sng"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TEAM MEMBERS </a:t>
            </a:r>
            <a:endParaRPr lang="en-US" sz="2200" b="1" u="sng" kern="100" dirty="0" smtClean="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p>
            <a:pPr algn="ctr"/>
            <a:r>
              <a:rPr lang="en-US" sz="2200" b="1" dirty="0">
                <a:solidFill>
                  <a:schemeClr val="tx1"/>
                </a:solidFill>
                <a:latin typeface="Times New Roman" panose="02020603050405020304" pitchFamily="18" charset="0"/>
                <a:cs typeface="Times New Roman" panose="02020603050405020304" pitchFamily="18" charset="0"/>
              </a:rPr>
              <a:t>HARI KISHORE K S</a:t>
            </a:r>
          </a:p>
          <a:p>
            <a:pPr algn="ctr"/>
            <a:r>
              <a:rPr lang="en-US" sz="2200" b="1" dirty="0">
                <a:solidFill>
                  <a:schemeClr val="tx1"/>
                </a:solidFill>
                <a:latin typeface="Times New Roman" panose="02020603050405020304" pitchFamily="18" charset="0"/>
                <a:cs typeface="Times New Roman" panose="02020603050405020304" pitchFamily="18" charset="0"/>
              </a:rPr>
              <a:t>NIZSAANTH NOBEL A</a:t>
            </a:r>
          </a:p>
          <a:p>
            <a:pPr algn="ctr"/>
            <a:r>
              <a:rPr lang="en-US" sz="2200" b="1" dirty="0">
                <a:solidFill>
                  <a:schemeClr val="tx1"/>
                </a:solidFill>
                <a:latin typeface="Times New Roman" panose="02020603050405020304" pitchFamily="18" charset="0"/>
                <a:cs typeface="Times New Roman" panose="02020603050405020304" pitchFamily="18" charset="0"/>
              </a:rPr>
              <a:t>KANIISHK SELVAKUMAR</a:t>
            </a:r>
          </a:p>
          <a:p>
            <a:pPr algn="ctr"/>
            <a:r>
              <a:rPr lang="en-US" sz="2200" b="1" dirty="0">
                <a:solidFill>
                  <a:schemeClr val="tx1"/>
                </a:solidFill>
                <a:latin typeface="Times New Roman" panose="02020603050405020304" pitchFamily="18" charset="0"/>
                <a:cs typeface="Times New Roman" panose="02020603050405020304" pitchFamily="18" charset="0"/>
              </a:rPr>
              <a:t>NITHISH SARAN</a:t>
            </a:r>
          </a:p>
          <a:p>
            <a:pPr algn="ct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r>
            <a:br>
              <a:rPr lang="en-US" kern="100" dirty="0">
                <a:effectLst/>
                <a:latin typeface="Times New Roman" panose="02020603050405020304" pitchFamily="18" charset="0"/>
                <a:ea typeface="Aptos" panose="020B000402020202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2408628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 name="Rectangle 1035">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AB07645-882B-1B78-1297-89FC9DC532CD}"/>
              </a:ext>
            </a:extLst>
          </p:cNvPr>
          <p:cNvSpPr>
            <a:spLocks noGrp="1"/>
          </p:cNvSpPr>
          <p:nvPr>
            <p:ph type="title"/>
          </p:nvPr>
        </p:nvSpPr>
        <p:spPr>
          <a:xfrm>
            <a:off x="490537" y="651752"/>
            <a:ext cx="11210925" cy="744836"/>
          </a:xfrm>
        </p:spPr>
        <p:txBody>
          <a:bodyPr vert="horz" lIns="91440" tIns="45720" rIns="91440" bIns="45720" rtlCol="0" anchor="ctr">
            <a:normAutofit/>
          </a:bodyPr>
          <a:lstStyle/>
          <a:p>
            <a:pPr algn="ctr"/>
            <a:r>
              <a:rPr lang="en-US" sz="3200" dirty="0">
                <a:solidFill>
                  <a:schemeClr val="bg1"/>
                </a:solidFill>
              </a:rPr>
              <a:t>1</a:t>
            </a:r>
            <a:r>
              <a:rPr lang="en-US" sz="3200" kern="1200" dirty="0">
                <a:solidFill>
                  <a:schemeClr val="bg1"/>
                </a:solidFill>
                <a:latin typeface="+mj-lt"/>
                <a:ea typeface="+mj-ea"/>
                <a:cs typeface="+mj-cs"/>
              </a:rPr>
              <a:t>-BIT BINARY SUBTRACTOR DIAGRAM</a:t>
            </a:r>
          </a:p>
        </p:txBody>
      </p:sp>
      <p:pic>
        <p:nvPicPr>
          <p:cNvPr id="5" name="Content Placeholder 4" descr="A diagram of a block diagram&#10;&#10;AI-generated content may be incorrect.">
            <a:extLst>
              <a:ext uri="{FF2B5EF4-FFF2-40B4-BE49-F238E27FC236}">
                <a16:creationId xmlns:a16="http://schemas.microsoft.com/office/drawing/2014/main" xmlns="" id="{0BC839ED-B84E-DD6F-5E26-BAB021AF38CA}"/>
              </a:ext>
            </a:extLst>
          </p:cNvPr>
          <p:cNvPicPr>
            <a:picLocks noGrp="1" noChangeAspect="1"/>
          </p:cNvPicPr>
          <p:nvPr>
            <p:ph idx="1"/>
          </p:nvPr>
        </p:nvPicPr>
        <p:blipFill rotWithShape="1">
          <a:blip r:embed="rId2"/>
          <a:srcRect t="2420"/>
          <a:stretch/>
        </p:blipFill>
        <p:spPr>
          <a:xfrm>
            <a:off x="0" y="1388303"/>
            <a:ext cx="12192000" cy="5469697"/>
          </a:xfrm>
          <a:prstGeom prst="rect">
            <a:avLst/>
          </a:prstGeom>
        </p:spPr>
      </p:pic>
    </p:spTree>
    <p:extLst>
      <p:ext uri="{BB962C8B-B14F-4D97-AF65-F5344CB8AC3E}">
        <p14:creationId xmlns:p14="http://schemas.microsoft.com/office/powerpoint/2010/main" val="250586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1B1DB8-581A-0981-D521-3798405A40DD}"/>
              </a:ext>
            </a:extLst>
          </p:cNvPr>
          <p:cNvSpPr>
            <a:spLocks noGrp="1"/>
          </p:cNvSpPr>
          <p:nvPr>
            <p:ph type="title"/>
          </p:nvPr>
        </p:nvSpPr>
        <p:spPr>
          <a:xfrm>
            <a:off x="874220" y="852768"/>
            <a:ext cx="9404723" cy="1400530"/>
          </a:xfrm>
        </p:spPr>
        <p:txBody>
          <a:bodyPr/>
          <a:lstStyle/>
          <a:p>
            <a:pPr algn="ctr"/>
            <a:r>
              <a:rPr lang="en-US" sz="4000" b="1" dirty="0">
                <a:latin typeface="Times New Roman" panose="02020603050405020304" pitchFamily="18" charset="0"/>
                <a:cs typeface="Times New Roman" panose="02020603050405020304" pitchFamily="18" charset="0"/>
              </a:rPr>
              <a:t>SUBTRACTOR CIRCUIT </a:t>
            </a:r>
          </a:p>
        </p:txBody>
      </p:sp>
      <p:sp>
        <p:nvSpPr>
          <p:cNvPr id="3" name="Content Placeholder 2">
            <a:extLst>
              <a:ext uri="{FF2B5EF4-FFF2-40B4-BE49-F238E27FC236}">
                <a16:creationId xmlns:a16="http://schemas.microsoft.com/office/drawing/2014/main" xmlns="" id="{F1730445-40EB-5E64-317E-F2F85C2C579F}"/>
              </a:ext>
            </a:extLst>
          </p:cNvPr>
          <p:cNvSpPr>
            <a:spLocks noGrp="1"/>
          </p:cNvSpPr>
          <p:nvPr>
            <p:ph idx="1"/>
          </p:nvPr>
        </p:nvSpPr>
        <p:spPr/>
        <p:txBody>
          <a:bodyPr>
            <a:normAutofit/>
          </a:bodyPr>
          <a:lstStyle/>
          <a:p>
            <a:pPr marL="0" indent="0" algn="ctr">
              <a:buNone/>
            </a:pPr>
            <a:r>
              <a:rPr lang="en-US" sz="2600" b="1" u="sng" dirty="0">
                <a:latin typeface="Times New Roman" panose="02020603050405020304" pitchFamily="18" charset="0"/>
                <a:cs typeface="Times New Roman" panose="02020603050405020304" pitchFamily="18" charset="0"/>
              </a:rPr>
              <a:t>RIPPLE BORROW SUBTRACTOR</a:t>
            </a:r>
          </a:p>
          <a:p>
            <a:pPr marL="0" indent="0" algn="just">
              <a:buNone/>
            </a:pPr>
            <a:endParaRPr lang="en-US" sz="2600" dirty="0" smtClean="0">
              <a:latin typeface="Times New Roman" panose="02020603050405020304" pitchFamily="18" charset="0"/>
              <a:cs typeface="Times New Roman" panose="02020603050405020304" pitchFamily="18" charset="0"/>
            </a:endParaRPr>
          </a:p>
          <a:p>
            <a:pPr marL="0" indent="0" algn="just">
              <a:buNone/>
            </a:pPr>
            <a:r>
              <a:rPr lang="en-US" sz="2600" dirty="0" smtClean="0">
                <a:latin typeface="Times New Roman" panose="02020603050405020304" pitchFamily="18" charset="0"/>
                <a:cs typeface="Times New Roman" panose="02020603050405020304" pitchFamily="18" charset="0"/>
              </a:rPr>
              <a:t>A </a:t>
            </a:r>
            <a:r>
              <a:rPr lang="en-US" sz="2600" dirty="0">
                <a:latin typeface="Times New Roman" panose="02020603050405020304" pitchFamily="18" charset="0"/>
                <a:cs typeface="Times New Roman" panose="02020603050405020304" pitchFamily="18" charset="0"/>
              </a:rPr>
              <a:t>Ripple Borrow Subtractor (RBS) is a binary subtractor that computes the borrow sequentially from one stage to the next, similar to the Ripple Carry Adder (RCA) in addition. This design is simple and requires minimal area but suffers from higher propagation delay due to the sequential nature of borrow computation.</a:t>
            </a:r>
          </a:p>
        </p:txBody>
      </p:sp>
    </p:spTree>
    <p:extLst>
      <p:ext uri="{BB962C8B-B14F-4D97-AF65-F5344CB8AC3E}">
        <p14:creationId xmlns:p14="http://schemas.microsoft.com/office/powerpoint/2010/main" val="1949994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685204D-AECA-E396-4527-107E61585992}"/>
              </a:ext>
            </a:extLst>
          </p:cNvPr>
          <p:cNvSpPr>
            <a:spLocks noGrp="1"/>
          </p:cNvSpPr>
          <p:nvPr>
            <p:ph type="title"/>
          </p:nvPr>
        </p:nvSpPr>
        <p:spPr>
          <a:xfrm>
            <a:off x="621846" y="325875"/>
            <a:ext cx="11210925" cy="1388303"/>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Ripple Borrow </a:t>
            </a:r>
            <a:r>
              <a:rPr lang="en-US" sz="3200" kern="1200" dirty="0" err="1">
                <a:solidFill>
                  <a:schemeClr val="bg1"/>
                </a:solidFill>
                <a:latin typeface="+mj-lt"/>
                <a:ea typeface="+mj-ea"/>
                <a:cs typeface="+mj-cs"/>
              </a:rPr>
              <a:t>Subtractor</a:t>
            </a:r>
            <a:endParaRPr lang="en-US" sz="3200" kern="1200" dirty="0">
              <a:solidFill>
                <a:schemeClr val="bg1"/>
              </a:solidFill>
              <a:latin typeface="+mj-lt"/>
              <a:ea typeface="+mj-ea"/>
              <a:cs typeface="+mj-cs"/>
            </a:endParaRPr>
          </a:p>
        </p:txBody>
      </p:sp>
      <p:pic>
        <p:nvPicPr>
          <p:cNvPr id="4" name="Content Placeholder 3">
            <a:extLst>
              <a:ext uri="{FF2B5EF4-FFF2-40B4-BE49-F238E27FC236}">
                <a16:creationId xmlns:a16="http://schemas.microsoft.com/office/drawing/2014/main" xmlns="" id="{3BBDBE04-A00C-39E4-3AFF-32A790E0183F}"/>
              </a:ext>
            </a:extLst>
          </p:cNvPr>
          <p:cNvPicPr>
            <a:picLocks noGrp="1" noChangeAspect="1"/>
          </p:cNvPicPr>
          <p:nvPr>
            <p:ph idx="1"/>
          </p:nvPr>
        </p:nvPicPr>
        <p:blipFill>
          <a:blip r:embed="rId2"/>
          <a:stretch>
            <a:fillRect/>
          </a:stretch>
        </p:blipFill>
        <p:spPr>
          <a:xfrm>
            <a:off x="0" y="1388303"/>
            <a:ext cx="12192000" cy="5469697"/>
          </a:xfrm>
          <a:prstGeom prst="rect">
            <a:avLst/>
          </a:prstGeom>
        </p:spPr>
      </p:pic>
    </p:spTree>
    <p:extLst>
      <p:ext uri="{BB962C8B-B14F-4D97-AF65-F5344CB8AC3E}">
        <p14:creationId xmlns:p14="http://schemas.microsoft.com/office/powerpoint/2010/main" val="406480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88BC3-4DF8-ABFD-879A-A11FB8C0E76F}"/>
              </a:ext>
            </a:extLst>
          </p:cNvPr>
          <p:cNvSpPr>
            <a:spLocks noGrp="1"/>
          </p:cNvSpPr>
          <p:nvPr>
            <p:ph type="title"/>
          </p:nvPr>
        </p:nvSpPr>
        <p:spPr>
          <a:xfrm>
            <a:off x="595312" y="77202"/>
            <a:ext cx="10515600" cy="842210"/>
          </a:xfrm>
        </p:spPr>
        <p:txBody>
          <a:bodyPr/>
          <a:lstStyle/>
          <a:p>
            <a:r>
              <a:rPr lang="en-US" sz="4000" b="1" dirty="0">
                <a:latin typeface="Times New Roman" panose="02020603050405020304" pitchFamily="18" charset="0"/>
                <a:cs typeface="Times New Roman" panose="02020603050405020304" pitchFamily="18" charset="0"/>
              </a:rPr>
              <a:t>CADENCE CIRCUIT DIAGRAM - NAND</a:t>
            </a:r>
          </a:p>
        </p:txBody>
      </p:sp>
      <p:sp>
        <p:nvSpPr>
          <p:cNvPr id="3" name="Content Placeholder 2">
            <a:extLst>
              <a:ext uri="{FF2B5EF4-FFF2-40B4-BE49-F238E27FC236}">
                <a16:creationId xmlns:a16="http://schemas.microsoft.com/office/drawing/2014/main" xmlns="" id="{B5ADD3DC-F555-35CE-03EF-398FFDC1643B}"/>
              </a:ext>
            </a:extLst>
          </p:cNvPr>
          <p:cNvSpPr>
            <a:spLocks noGrp="1"/>
          </p:cNvSpPr>
          <p:nvPr>
            <p:ph idx="1"/>
          </p:nvPr>
        </p:nvSpPr>
        <p:spPr/>
        <p:txBody>
          <a:bodyPr/>
          <a:lstStyle/>
          <a:p>
            <a:pPr marL="0" indent="0">
              <a:buNone/>
            </a:pPr>
            <a:r>
              <a:rPr lang="en-US" dirty="0"/>
              <a:t>domino </a:t>
            </a:r>
            <a:r>
              <a:rPr lang="en-US" dirty="0" err="1"/>
              <a:t>nand.png</a:t>
            </a:r>
            <a:endParaRPr lang="en-US" dirty="0"/>
          </a:p>
        </p:txBody>
      </p:sp>
      <p:pic>
        <p:nvPicPr>
          <p:cNvPr id="5" name="Picture 4" descr="A computer screen shot of a diagram&#10;&#10;AI-generated content may be incorrect.">
            <a:extLst>
              <a:ext uri="{FF2B5EF4-FFF2-40B4-BE49-F238E27FC236}">
                <a16:creationId xmlns:a16="http://schemas.microsoft.com/office/drawing/2014/main" xmlns="" id="{D2BBC6E3-BE16-880D-1A2C-7FA7C4FD735C}"/>
              </a:ext>
            </a:extLst>
          </p:cNvPr>
          <p:cNvPicPr>
            <a:picLocks noChangeAspect="1"/>
          </p:cNvPicPr>
          <p:nvPr/>
        </p:nvPicPr>
        <p:blipFill rotWithShape="1">
          <a:blip r:embed="rId2"/>
          <a:srcRect b="4358"/>
          <a:stretch/>
        </p:blipFill>
        <p:spPr>
          <a:xfrm>
            <a:off x="0" y="950244"/>
            <a:ext cx="12192000" cy="5907756"/>
          </a:xfrm>
          <a:prstGeom prst="rect">
            <a:avLst/>
          </a:prstGeom>
        </p:spPr>
      </p:pic>
    </p:spTree>
    <p:extLst>
      <p:ext uri="{BB962C8B-B14F-4D97-AF65-F5344CB8AC3E}">
        <p14:creationId xmlns:p14="http://schemas.microsoft.com/office/powerpoint/2010/main" val="1881600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22433D-A827-3BC6-4926-DEE0C5E87B1A}"/>
              </a:ext>
            </a:extLst>
          </p:cNvPr>
          <p:cNvSpPr>
            <a:spLocks noGrp="1"/>
          </p:cNvSpPr>
          <p:nvPr>
            <p:ph type="title"/>
          </p:nvPr>
        </p:nvSpPr>
        <p:spPr>
          <a:xfrm>
            <a:off x="0" y="128588"/>
            <a:ext cx="10515600" cy="985519"/>
          </a:xfrm>
        </p:spPr>
        <p:txBody>
          <a:bodyPr>
            <a:normAutofit/>
          </a:bodyPr>
          <a:lstStyle/>
          <a:p>
            <a:r>
              <a:rPr lang="en-US" sz="4000" b="1" dirty="0">
                <a:latin typeface="Times New Roman" panose="02020603050405020304" pitchFamily="18" charset="0"/>
                <a:cs typeface="Times New Roman" panose="02020603050405020304" pitchFamily="18" charset="0"/>
              </a:rPr>
              <a:t>CADENCE CIRCUIT DIAGRAM – NAND OP</a:t>
            </a:r>
          </a:p>
        </p:txBody>
      </p:sp>
      <p:pic>
        <p:nvPicPr>
          <p:cNvPr id="5" name="Content Placeholder 4" descr="A screenshot of a computer&#10;&#10;AI-generated content may be incorrect.">
            <a:extLst>
              <a:ext uri="{FF2B5EF4-FFF2-40B4-BE49-F238E27FC236}">
                <a16:creationId xmlns:a16="http://schemas.microsoft.com/office/drawing/2014/main" xmlns="" id="{92479F3B-32A7-D8B8-4429-41FDB5212CF4}"/>
              </a:ext>
            </a:extLst>
          </p:cNvPr>
          <p:cNvPicPr>
            <a:picLocks noGrp="1" noChangeAspect="1"/>
          </p:cNvPicPr>
          <p:nvPr>
            <p:ph idx="1"/>
          </p:nvPr>
        </p:nvPicPr>
        <p:blipFill rotWithShape="1">
          <a:blip r:embed="rId2"/>
          <a:srcRect t="670" b="3712"/>
          <a:stretch/>
        </p:blipFill>
        <p:spPr>
          <a:xfrm>
            <a:off x="0" y="985520"/>
            <a:ext cx="12192000" cy="5888037"/>
          </a:xfrm>
        </p:spPr>
      </p:pic>
    </p:spTree>
    <p:extLst>
      <p:ext uri="{BB962C8B-B14F-4D97-AF65-F5344CB8AC3E}">
        <p14:creationId xmlns:p14="http://schemas.microsoft.com/office/powerpoint/2010/main" val="4166827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D075A9-CA1F-747F-DBCB-C1CFF4092AE6}"/>
              </a:ext>
            </a:extLst>
          </p:cNvPr>
          <p:cNvSpPr>
            <a:spLocks noGrp="1"/>
          </p:cNvSpPr>
          <p:nvPr>
            <p:ph type="title"/>
          </p:nvPr>
        </p:nvSpPr>
        <p:spPr>
          <a:xfrm>
            <a:off x="666750" y="114300"/>
            <a:ext cx="10515600" cy="822959"/>
          </a:xfrm>
        </p:spPr>
        <p:txBody>
          <a:bodyPr/>
          <a:lstStyle/>
          <a:p>
            <a:r>
              <a:rPr lang="en-US" sz="4000" b="1" dirty="0">
                <a:latin typeface="Times New Roman" panose="02020603050405020304" pitchFamily="18" charset="0"/>
                <a:cs typeface="Times New Roman" panose="02020603050405020304" pitchFamily="18" charset="0"/>
              </a:rPr>
              <a:t>CADENCE CIRCUIT DIAGRAM - AND</a:t>
            </a:r>
          </a:p>
        </p:txBody>
      </p:sp>
      <p:pic>
        <p:nvPicPr>
          <p:cNvPr id="5" name="Content Placeholder 4" descr="A computer screen shot of a diagram&#10;&#10;AI-generated content may be incorrect.">
            <a:extLst>
              <a:ext uri="{FF2B5EF4-FFF2-40B4-BE49-F238E27FC236}">
                <a16:creationId xmlns:a16="http://schemas.microsoft.com/office/drawing/2014/main" xmlns="" id="{C2B32DC2-FED1-3D9B-3A2D-9ED74C429E58}"/>
              </a:ext>
            </a:extLst>
          </p:cNvPr>
          <p:cNvPicPr>
            <a:picLocks noGrp="1" noChangeAspect="1"/>
          </p:cNvPicPr>
          <p:nvPr>
            <p:ph idx="1"/>
          </p:nvPr>
        </p:nvPicPr>
        <p:blipFill rotWithShape="1">
          <a:blip r:embed="rId2"/>
          <a:srcRect b="3646"/>
          <a:stretch/>
        </p:blipFill>
        <p:spPr>
          <a:xfrm>
            <a:off x="0" y="817881"/>
            <a:ext cx="12192000" cy="6040119"/>
          </a:xfrm>
        </p:spPr>
      </p:pic>
    </p:spTree>
    <p:extLst>
      <p:ext uri="{BB962C8B-B14F-4D97-AF65-F5344CB8AC3E}">
        <p14:creationId xmlns:p14="http://schemas.microsoft.com/office/powerpoint/2010/main" val="1436131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C7BF7C-2775-0B55-F6A9-5186BD2B4E71}"/>
              </a:ext>
            </a:extLst>
          </p:cNvPr>
          <p:cNvSpPr>
            <a:spLocks noGrp="1"/>
          </p:cNvSpPr>
          <p:nvPr>
            <p:ph type="title"/>
          </p:nvPr>
        </p:nvSpPr>
        <p:spPr>
          <a:xfrm>
            <a:off x="0" y="100013"/>
            <a:ext cx="10515600" cy="1066799"/>
          </a:xfrm>
        </p:spPr>
        <p:txBody>
          <a:bodyPr>
            <a:normAutofit/>
          </a:bodyPr>
          <a:lstStyle/>
          <a:p>
            <a:r>
              <a:rPr lang="en-US" sz="4000" b="1" dirty="0">
                <a:latin typeface="Times New Roman" panose="02020603050405020304" pitchFamily="18" charset="0"/>
                <a:cs typeface="Times New Roman" panose="02020603050405020304" pitchFamily="18" charset="0"/>
              </a:rPr>
              <a:t>CADENCE CIRCUIT DIAGRAM – AND OP</a:t>
            </a:r>
          </a:p>
        </p:txBody>
      </p:sp>
      <p:pic>
        <p:nvPicPr>
          <p:cNvPr id="5" name="Content Placeholder 4" descr="A screenshot of a computer&#10;&#10;AI-generated content may be incorrect.">
            <a:extLst>
              <a:ext uri="{FF2B5EF4-FFF2-40B4-BE49-F238E27FC236}">
                <a16:creationId xmlns:a16="http://schemas.microsoft.com/office/drawing/2014/main" xmlns="" id="{8CBF6D21-5B8D-D85E-475F-3B383B955B43}"/>
              </a:ext>
            </a:extLst>
          </p:cNvPr>
          <p:cNvPicPr>
            <a:picLocks noGrp="1" noChangeAspect="1"/>
          </p:cNvPicPr>
          <p:nvPr>
            <p:ph idx="1"/>
          </p:nvPr>
        </p:nvPicPr>
        <p:blipFill rotWithShape="1">
          <a:blip r:embed="rId2"/>
          <a:srcRect b="3978"/>
          <a:stretch/>
        </p:blipFill>
        <p:spPr>
          <a:xfrm>
            <a:off x="0" y="995362"/>
            <a:ext cx="12192000" cy="5862638"/>
          </a:xfrm>
        </p:spPr>
      </p:pic>
    </p:spTree>
    <p:extLst>
      <p:ext uri="{BB962C8B-B14F-4D97-AF65-F5344CB8AC3E}">
        <p14:creationId xmlns:p14="http://schemas.microsoft.com/office/powerpoint/2010/main" val="388391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43D1E2-4E7F-5371-0002-9872D890EFBF}"/>
              </a:ext>
            </a:extLst>
          </p:cNvPr>
          <p:cNvSpPr>
            <a:spLocks noGrp="1"/>
          </p:cNvSpPr>
          <p:nvPr>
            <p:ph type="title"/>
          </p:nvPr>
        </p:nvSpPr>
        <p:spPr>
          <a:xfrm>
            <a:off x="595312" y="199232"/>
            <a:ext cx="10515600" cy="812799"/>
          </a:xfrm>
        </p:spPr>
        <p:txBody>
          <a:bodyPr>
            <a:normAutofit/>
          </a:bodyPr>
          <a:lstStyle/>
          <a:p>
            <a:r>
              <a:rPr lang="en-US" sz="4000" b="1" dirty="0">
                <a:latin typeface="Times New Roman" panose="02020603050405020304" pitchFamily="18" charset="0"/>
                <a:cs typeface="Times New Roman" panose="02020603050405020304" pitchFamily="18" charset="0"/>
              </a:rPr>
              <a:t>CADENCE CIRCUIT DIAGRAM - OR</a:t>
            </a:r>
          </a:p>
        </p:txBody>
      </p:sp>
      <p:pic>
        <p:nvPicPr>
          <p:cNvPr id="5" name="Content Placeholder 4" descr="A screenshot of a computer&#10;&#10;AI-generated content may be incorrect.">
            <a:extLst>
              <a:ext uri="{FF2B5EF4-FFF2-40B4-BE49-F238E27FC236}">
                <a16:creationId xmlns:a16="http://schemas.microsoft.com/office/drawing/2014/main" xmlns="" id="{1B103EFB-56DC-50BA-7D6E-1017699B3C56}"/>
              </a:ext>
            </a:extLst>
          </p:cNvPr>
          <p:cNvPicPr>
            <a:picLocks noGrp="1" noChangeAspect="1"/>
          </p:cNvPicPr>
          <p:nvPr>
            <p:ph idx="1"/>
          </p:nvPr>
        </p:nvPicPr>
        <p:blipFill rotWithShape="1">
          <a:blip r:embed="rId2"/>
          <a:srcRect b="3309"/>
          <a:stretch/>
        </p:blipFill>
        <p:spPr>
          <a:xfrm>
            <a:off x="0" y="1012031"/>
            <a:ext cx="12192000" cy="5845969"/>
          </a:xfrm>
        </p:spPr>
      </p:pic>
    </p:spTree>
    <p:extLst>
      <p:ext uri="{BB962C8B-B14F-4D97-AF65-F5344CB8AC3E}">
        <p14:creationId xmlns:p14="http://schemas.microsoft.com/office/powerpoint/2010/main" val="3300174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C84A3B-72FC-CC58-E700-F072B20DACE0}"/>
              </a:ext>
            </a:extLst>
          </p:cNvPr>
          <p:cNvSpPr>
            <a:spLocks noGrp="1"/>
          </p:cNvSpPr>
          <p:nvPr>
            <p:ph type="title"/>
          </p:nvPr>
        </p:nvSpPr>
        <p:spPr>
          <a:xfrm>
            <a:off x="323850" y="228601"/>
            <a:ext cx="10515600" cy="1127759"/>
          </a:xfrm>
        </p:spPr>
        <p:txBody>
          <a:bodyPr>
            <a:normAutofit/>
          </a:bodyPr>
          <a:lstStyle/>
          <a:p>
            <a:r>
              <a:rPr lang="en-US" sz="4000" b="1" dirty="0">
                <a:latin typeface="Times New Roman" panose="02020603050405020304" pitchFamily="18" charset="0"/>
                <a:cs typeface="Times New Roman" panose="02020603050405020304" pitchFamily="18" charset="0"/>
              </a:rPr>
              <a:t>CADENCE CIRCUIT DIAGRAM – OR OP</a:t>
            </a:r>
          </a:p>
        </p:txBody>
      </p:sp>
      <p:pic>
        <p:nvPicPr>
          <p:cNvPr id="9" name="Content Placeholder 8" descr="A screenshot of a computer&#10;&#10;AI-generated content may be incorrect.">
            <a:extLst>
              <a:ext uri="{FF2B5EF4-FFF2-40B4-BE49-F238E27FC236}">
                <a16:creationId xmlns:a16="http://schemas.microsoft.com/office/drawing/2014/main" xmlns="" id="{47A248EE-7DE5-D8C6-B1EE-6DBCB47A1BBD}"/>
              </a:ext>
            </a:extLst>
          </p:cNvPr>
          <p:cNvPicPr>
            <a:picLocks noGrp="1" noChangeAspect="1"/>
          </p:cNvPicPr>
          <p:nvPr>
            <p:ph idx="1"/>
          </p:nvPr>
        </p:nvPicPr>
        <p:blipFill rotWithShape="1">
          <a:blip r:embed="rId2"/>
          <a:srcRect b="3581"/>
          <a:stretch/>
        </p:blipFill>
        <p:spPr>
          <a:xfrm>
            <a:off x="0" y="1088072"/>
            <a:ext cx="12284242" cy="5769928"/>
          </a:xfrm>
        </p:spPr>
      </p:pic>
    </p:spTree>
    <p:extLst>
      <p:ext uri="{BB962C8B-B14F-4D97-AF65-F5344CB8AC3E}">
        <p14:creationId xmlns:p14="http://schemas.microsoft.com/office/powerpoint/2010/main" val="2886500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EC4E35-93C8-8AF7-E55B-28CD81949E66}"/>
              </a:ext>
            </a:extLst>
          </p:cNvPr>
          <p:cNvSpPr>
            <a:spLocks noGrp="1"/>
          </p:cNvSpPr>
          <p:nvPr>
            <p:ph type="title"/>
          </p:nvPr>
        </p:nvSpPr>
        <p:spPr>
          <a:xfrm>
            <a:off x="695325" y="87632"/>
            <a:ext cx="10515600" cy="833119"/>
          </a:xfrm>
        </p:spPr>
        <p:txBody>
          <a:bodyPr/>
          <a:lstStyle/>
          <a:p>
            <a:r>
              <a:rPr lang="en-US" sz="4000" b="1" dirty="0">
                <a:latin typeface="Times New Roman" panose="02020603050405020304" pitchFamily="18" charset="0"/>
                <a:cs typeface="Times New Roman" panose="02020603050405020304" pitchFamily="18" charset="0"/>
              </a:rPr>
              <a:t>CADENCE CIRCUIT DIAGRAM - XOR</a:t>
            </a:r>
          </a:p>
        </p:txBody>
      </p:sp>
      <p:pic>
        <p:nvPicPr>
          <p:cNvPr id="5" name="Content Placeholder 4" descr="A computer screen shot of a computer program&#10;&#10;AI-generated content may be incorrect.">
            <a:extLst>
              <a:ext uri="{FF2B5EF4-FFF2-40B4-BE49-F238E27FC236}">
                <a16:creationId xmlns:a16="http://schemas.microsoft.com/office/drawing/2014/main" xmlns="" id="{16B8AC9C-957A-B8AD-830C-62C4AAA86F26}"/>
              </a:ext>
            </a:extLst>
          </p:cNvPr>
          <p:cNvPicPr>
            <a:picLocks noGrp="1" noChangeAspect="1"/>
          </p:cNvPicPr>
          <p:nvPr>
            <p:ph idx="1"/>
          </p:nvPr>
        </p:nvPicPr>
        <p:blipFill rotWithShape="1">
          <a:blip r:embed="rId2"/>
          <a:srcRect t="6154" b="3707"/>
          <a:stretch/>
        </p:blipFill>
        <p:spPr>
          <a:xfrm>
            <a:off x="0" y="1028699"/>
            <a:ext cx="12192000" cy="5829301"/>
          </a:xfrm>
        </p:spPr>
      </p:pic>
    </p:spTree>
    <p:extLst>
      <p:ext uri="{BB962C8B-B14F-4D97-AF65-F5344CB8AC3E}">
        <p14:creationId xmlns:p14="http://schemas.microsoft.com/office/powerpoint/2010/main" val="3649338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DEC3DD-ABB7-C634-8449-DEFF4C7FA30B}"/>
              </a:ext>
            </a:extLst>
          </p:cNvPr>
          <p:cNvSpPr>
            <a:spLocks noGrp="1"/>
          </p:cNvSpPr>
          <p:nvPr>
            <p:ph type="title"/>
          </p:nvPr>
        </p:nvSpPr>
        <p:spPr>
          <a:xfrm>
            <a:off x="0" y="1"/>
            <a:ext cx="11272520" cy="975359"/>
          </a:xfrm>
        </p:spPr>
        <p:txBody>
          <a:bodyPr/>
          <a:lstStyle/>
          <a:p>
            <a:r>
              <a:rPr lang="en-US" sz="4000" b="1" dirty="0">
                <a:latin typeface="Times New Roman" panose="02020603050405020304" pitchFamily="18" charset="0"/>
                <a:cs typeface="Times New Roman" panose="02020603050405020304" pitchFamily="18" charset="0"/>
              </a:rPr>
              <a:t>CADENCE CIRCUIT DIAGRAM – XOR OP</a:t>
            </a:r>
          </a:p>
        </p:txBody>
      </p:sp>
      <p:pic>
        <p:nvPicPr>
          <p:cNvPr id="5" name="Content Placeholder 4" descr="A screenshot of a computer&#10;&#10;AI-generated content may be incorrect.">
            <a:extLst>
              <a:ext uri="{FF2B5EF4-FFF2-40B4-BE49-F238E27FC236}">
                <a16:creationId xmlns:a16="http://schemas.microsoft.com/office/drawing/2014/main" xmlns="" id="{263890C8-205F-CDE8-929A-16FA475B7AAC}"/>
              </a:ext>
            </a:extLst>
          </p:cNvPr>
          <p:cNvPicPr>
            <a:picLocks noGrp="1" noChangeAspect="1"/>
          </p:cNvPicPr>
          <p:nvPr>
            <p:ph idx="1"/>
          </p:nvPr>
        </p:nvPicPr>
        <p:blipFill rotWithShape="1">
          <a:blip r:embed="rId2"/>
          <a:srcRect b="3296"/>
          <a:stretch/>
        </p:blipFill>
        <p:spPr>
          <a:xfrm>
            <a:off x="0" y="975360"/>
            <a:ext cx="12192000" cy="5865812"/>
          </a:xfrm>
        </p:spPr>
      </p:pic>
    </p:spTree>
    <p:extLst>
      <p:ext uri="{BB962C8B-B14F-4D97-AF65-F5344CB8AC3E}">
        <p14:creationId xmlns:p14="http://schemas.microsoft.com/office/powerpoint/2010/main" val="3705456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0533EE-4201-5739-8D99-F6C9CC3A7EE3}"/>
              </a:ext>
            </a:extLst>
          </p:cNvPr>
          <p:cNvSpPr>
            <a:spLocks noGrp="1"/>
          </p:cNvSpPr>
          <p:nvPr>
            <p:ph type="title"/>
          </p:nvPr>
        </p:nvSpPr>
        <p:spPr>
          <a:xfrm>
            <a:off x="0" y="128588"/>
            <a:ext cx="12192000" cy="1010652"/>
          </a:xfrm>
        </p:spPr>
        <p:txBody>
          <a:bodyPr>
            <a:noAutofit/>
          </a:bodyPr>
          <a:lstStyle/>
          <a:p>
            <a:r>
              <a:rPr lang="en-US" sz="3600" b="1" dirty="0">
                <a:latin typeface="Times New Roman" panose="02020603050405020304" pitchFamily="18" charset="0"/>
                <a:cs typeface="Times New Roman" panose="02020603050405020304" pitchFamily="18" charset="0"/>
              </a:rPr>
              <a:t>CADENCE CIRCUIT DIAGRAM – FULL SUBTRACTOR</a:t>
            </a:r>
          </a:p>
        </p:txBody>
      </p:sp>
      <p:pic>
        <p:nvPicPr>
          <p:cNvPr id="5" name="Content Placeholder 4" descr="A computer screen shot of a computer program&#10;&#10;AI-generated content may be incorrect.">
            <a:extLst>
              <a:ext uri="{FF2B5EF4-FFF2-40B4-BE49-F238E27FC236}">
                <a16:creationId xmlns:a16="http://schemas.microsoft.com/office/drawing/2014/main" xmlns="" id="{03D9BF75-7EED-A55A-709E-8D79D7C00D0A}"/>
              </a:ext>
            </a:extLst>
          </p:cNvPr>
          <p:cNvPicPr>
            <a:picLocks noGrp="1" noChangeAspect="1"/>
          </p:cNvPicPr>
          <p:nvPr>
            <p:ph idx="1"/>
          </p:nvPr>
        </p:nvPicPr>
        <p:blipFill rotWithShape="1">
          <a:blip r:embed="rId2"/>
          <a:srcRect b="3981"/>
          <a:stretch/>
        </p:blipFill>
        <p:spPr>
          <a:xfrm>
            <a:off x="0" y="1010653"/>
            <a:ext cx="12192000" cy="5857875"/>
          </a:xfrm>
        </p:spPr>
      </p:pic>
    </p:spTree>
    <p:extLst>
      <p:ext uri="{BB962C8B-B14F-4D97-AF65-F5344CB8AC3E}">
        <p14:creationId xmlns:p14="http://schemas.microsoft.com/office/powerpoint/2010/main" val="758683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C234C0-51F2-798E-EA46-9DC664677146}"/>
              </a:ext>
            </a:extLst>
          </p:cNvPr>
          <p:cNvSpPr>
            <a:spLocks noGrp="1"/>
          </p:cNvSpPr>
          <p:nvPr>
            <p:ph type="title"/>
          </p:nvPr>
        </p:nvSpPr>
        <p:spPr>
          <a:xfrm>
            <a:off x="0" y="200026"/>
            <a:ext cx="12192000" cy="974557"/>
          </a:xfrm>
        </p:spPr>
        <p:txBody>
          <a:bodyPr>
            <a:noAutofit/>
          </a:bodyPr>
          <a:lstStyle/>
          <a:p>
            <a:r>
              <a:rPr lang="en-US" sz="3400" b="1" dirty="0">
                <a:latin typeface="Times New Roman" panose="02020603050405020304" pitchFamily="18" charset="0"/>
                <a:cs typeface="Times New Roman" panose="02020603050405020304" pitchFamily="18" charset="0"/>
              </a:rPr>
              <a:t>CADENCE CIRCUIT DIAGRAM – FULL SUBTRACTOR OP</a:t>
            </a:r>
          </a:p>
        </p:txBody>
      </p:sp>
      <p:pic>
        <p:nvPicPr>
          <p:cNvPr id="5" name="Content Placeholder 4" descr="A screenshot of a computer&#10;&#10;AI-generated content may be incorrect.">
            <a:extLst>
              <a:ext uri="{FF2B5EF4-FFF2-40B4-BE49-F238E27FC236}">
                <a16:creationId xmlns:a16="http://schemas.microsoft.com/office/drawing/2014/main" xmlns="" id="{43D397B1-6F97-CD4E-127B-65BB76760936}"/>
              </a:ext>
            </a:extLst>
          </p:cNvPr>
          <p:cNvPicPr>
            <a:picLocks noGrp="1" noChangeAspect="1"/>
          </p:cNvPicPr>
          <p:nvPr>
            <p:ph idx="1"/>
          </p:nvPr>
        </p:nvPicPr>
        <p:blipFill rotWithShape="1">
          <a:blip r:embed="rId2"/>
          <a:srcRect b="3528"/>
          <a:stretch/>
        </p:blipFill>
        <p:spPr>
          <a:xfrm>
            <a:off x="0" y="996950"/>
            <a:ext cx="12192000" cy="5861050"/>
          </a:xfrm>
        </p:spPr>
      </p:pic>
    </p:spTree>
    <p:extLst>
      <p:ext uri="{BB962C8B-B14F-4D97-AF65-F5344CB8AC3E}">
        <p14:creationId xmlns:p14="http://schemas.microsoft.com/office/powerpoint/2010/main" val="567162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6A893E-5504-E394-C1BA-6FE01D7203CF}"/>
              </a:ext>
            </a:extLst>
          </p:cNvPr>
          <p:cNvSpPr>
            <a:spLocks noGrp="1"/>
          </p:cNvSpPr>
          <p:nvPr>
            <p:ph type="title"/>
          </p:nvPr>
        </p:nvSpPr>
        <p:spPr>
          <a:xfrm>
            <a:off x="0" y="200025"/>
            <a:ext cx="12192000" cy="890336"/>
          </a:xfrm>
        </p:spPr>
        <p:txBody>
          <a:bodyPr>
            <a:noAutofit/>
          </a:bodyPr>
          <a:lstStyle/>
          <a:p>
            <a:r>
              <a:rPr lang="en-US" sz="3300" b="1" dirty="0">
                <a:latin typeface="Times New Roman" panose="02020603050405020304" pitchFamily="18" charset="0"/>
                <a:cs typeface="Times New Roman" panose="02020603050405020304" pitchFamily="18" charset="0"/>
              </a:rPr>
              <a:t>CADENCE CIRCUIT DIAGRAM – FULL SUBTRACTOR OP 1</a:t>
            </a:r>
          </a:p>
        </p:txBody>
      </p:sp>
      <p:pic>
        <p:nvPicPr>
          <p:cNvPr id="5" name="Content Placeholder 4" descr="A screenshot of a computer&#10;&#10;AI-generated content may be incorrect.">
            <a:extLst>
              <a:ext uri="{FF2B5EF4-FFF2-40B4-BE49-F238E27FC236}">
                <a16:creationId xmlns:a16="http://schemas.microsoft.com/office/drawing/2014/main" xmlns="" id="{7F75E77C-CD02-79A8-F1A8-AAF03F0F4131}"/>
              </a:ext>
            </a:extLst>
          </p:cNvPr>
          <p:cNvPicPr>
            <a:picLocks noGrp="1" noChangeAspect="1"/>
          </p:cNvPicPr>
          <p:nvPr>
            <p:ph idx="1"/>
          </p:nvPr>
        </p:nvPicPr>
        <p:blipFill rotWithShape="1">
          <a:blip r:embed="rId2"/>
          <a:srcRect b="3492"/>
          <a:stretch/>
        </p:blipFill>
        <p:spPr>
          <a:xfrm>
            <a:off x="0" y="936625"/>
            <a:ext cx="12192000" cy="5921375"/>
          </a:xfrm>
        </p:spPr>
      </p:pic>
    </p:spTree>
    <p:extLst>
      <p:ext uri="{BB962C8B-B14F-4D97-AF65-F5344CB8AC3E}">
        <p14:creationId xmlns:p14="http://schemas.microsoft.com/office/powerpoint/2010/main" val="1424774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9CD4EC-87E4-5A24-7413-571223C1FE81}"/>
              </a:ext>
            </a:extLst>
          </p:cNvPr>
          <p:cNvSpPr>
            <a:spLocks noGrp="1"/>
          </p:cNvSpPr>
          <p:nvPr>
            <p:ph type="title"/>
          </p:nvPr>
        </p:nvSpPr>
        <p:spPr>
          <a:xfrm>
            <a:off x="395288" y="114300"/>
            <a:ext cx="10515600" cy="782053"/>
          </a:xfrm>
        </p:spPr>
        <p:txBody>
          <a:bodyPr>
            <a:normAutofit fontScale="90000"/>
          </a:bodyPr>
          <a:lstStyle/>
          <a:p>
            <a:r>
              <a:rPr lang="en-US" sz="4000" b="1" dirty="0">
                <a:latin typeface="Times New Roman" panose="02020603050405020304" pitchFamily="18" charset="0"/>
                <a:cs typeface="Times New Roman" panose="02020603050405020304" pitchFamily="18" charset="0"/>
              </a:rPr>
              <a:t>PSEDUO NMOS FULL SUBTRACTOR OUTPUT</a:t>
            </a:r>
          </a:p>
        </p:txBody>
      </p:sp>
      <p:pic>
        <p:nvPicPr>
          <p:cNvPr id="5" name="Content Placeholder 4" descr="A screenshot of a computer&#10;&#10;AI-generated content may be incorrect.">
            <a:extLst>
              <a:ext uri="{FF2B5EF4-FFF2-40B4-BE49-F238E27FC236}">
                <a16:creationId xmlns:a16="http://schemas.microsoft.com/office/drawing/2014/main" xmlns="" id="{921093BC-FBAD-6A43-AD47-11E35EF8D0E7}"/>
              </a:ext>
            </a:extLst>
          </p:cNvPr>
          <p:cNvPicPr>
            <a:picLocks noGrp="1" noChangeAspect="1"/>
          </p:cNvPicPr>
          <p:nvPr>
            <p:ph idx="1"/>
          </p:nvPr>
        </p:nvPicPr>
        <p:blipFill rotWithShape="1">
          <a:blip r:embed="rId2"/>
          <a:srcRect b="3763"/>
          <a:stretch/>
        </p:blipFill>
        <p:spPr>
          <a:xfrm>
            <a:off x="0" y="1011238"/>
            <a:ext cx="12192000" cy="5846762"/>
          </a:xfrm>
        </p:spPr>
      </p:pic>
    </p:spTree>
    <p:extLst>
      <p:ext uri="{BB962C8B-B14F-4D97-AF65-F5344CB8AC3E}">
        <p14:creationId xmlns:p14="http://schemas.microsoft.com/office/powerpoint/2010/main" val="560786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669576-EC60-904E-755B-5D1DB3643859}"/>
              </a:ext>
            </a:extLst>
          </p:cNvPr>
          <p:cNvSpPr>
            <a:spLocks noGrp="1"/>
          </p:cNvSpPr>
          <p:nvPr>
            <p:ph type="title"/>
          </p:nvPr>
        </p:nvSpPr>
        <p:spPr>
          <a:xfrm>
            <a:off x="0" y="136567"/>
            <a:ext cx="12192000" cy="878773"/>
          </a:xfrm>
        </p:spPr>
        <p:txBody>
          <a:bodyPr>
            <a:normAutofit fontScale="90000"/>
          </a:bodyPr>
          <a:lstStyle/>
          <a:p>
            <a:r>
              <a:rPr lang="en-US" b="1" dirty="0">
                <a:latin typeface="Times New Roman" panose="02020603050405020304" pitchFamily="18" charset="0"/>
                <a:cs typeface="Times New Roman" panose="02020603050405020304" pitchFamily="18" charset="0"/>
              </a:rPr>
              <a:t>PSEDUO NMOS FULL SUBTRACTOR 8-BIT CIRCUIT</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015340"/>
            <a:ext cx="12191999" cy="5842659"/>
          </a:xfrm>
        </p:spPr>
      </p:pic>
    </p:spTree>
    <p:extLst>
      <p:ext uri="{BB962C8B-B14F-4D97-AF65-F5344CB8AC3E}">
        <p14:creationId xmlns:p14="http://schemas.microsoft.com/office/powerpoint/2010/main" val="743165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5E1EA9-77E4-EC9E-52C8-17B40DFB1703}"/>
              </a:ext>
            </a:extLst>
          </p:cNvPr>
          <p:cNvSpPr>
            <a:spLocks noGrp="1"/>
          </p:cNvSpPr>
          <p:nvPr>
            <p:ph type="title"/>
          </p:nvPr>
        </p:nvSpPr>
        <p:spPr>
          <a:xfrm>
            <a:off x="157162" y="128588"/>
            <a:ext cx="12192000" cy="855023"/>
          </a:xfrm>
        </p:spPr>
        <p:txBody>
          <a:bodyPr>
            <a:normAutofit fontScale="90000"/>
          </a:bodyPr>
          <a:lstStyle/>
          <a:p>
            <a:r>
              <a:rPr lang="en-US" sz="3400" b="1" kern="100" dirty="0">
                <a:effectLst/>
                <a:latin typeface="Times New Roman" panose="02020603050405020304" pitchFamily="18" charset="0"/>
                <a:ea typeface="Aptos" panose="020B0004020202020204" pitchFamily="34" charset="0"/>
                <a:cs typeface="Times New Roman" panose="02020603050405020304" pitchFamily="18" charset="0"/>
              </a:rPr>
              <a:t>PSEDUO NMOS 8-BIT FULL SUBTRACTOR CIRCUIT OUTPUT :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55024"/>
            <a:ext cx="12192000" cy="6122040"/>
          </a:xfrm>
        </p:spPr>
      </p:pic>
    </p:spTree>
    <p:extLst>
      <p:ext uri="{BB962C8B-B14F-4D97-AF65-F5344CB8AC3E}">
        <p14:creationId xmlns:p14="http://schemas.microsoft.com/office/powerpoint/2010/main" val="37805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0A480B-8C9B-30A5-B035-1F456B8EC5C8}"/>
              </a:ext>
            </a:extLst>
          </p:cNvPr>
          <p:cNvSpPr>
            <a:spLocks noGrp="1"/>
          </p:cNvSpPr>
          <p:nvPr>
            <p:ph type="title"/>
          </p:nvPr>
        </p:nvSpPr>
        <p:spPr>
          <a:xfrm>
            <a:off x="200025" y="157164"/>
            <a:ext cx="12192000" cy="795646"/>
          </a:xfrm>
        </p:spPr>
        <p:txBody>
          <a:bodyPr>
            <a:normAutofit/>
          </a:bodyPr>
          <a:lstStyle/>
          <a:p>
            <a:r>
              <a:rPr lang="en-US" sz="3500" b="1" dirty="0">
                <a:latin typeface="Times New Roman" panose="02020603050405020304" pitchFamily="18" charset="0"/>
                <a:cs typeface="Times New Roman" panose="02020603050405020304" pitchFamily="18" charset="0"/>
              </a:rPr>
              <a:t>DYNAMIC LOGIC FULL SUBTRACTOR 8-BIT CIRCUIT</a:t>
            </a:r>
          </a:p>
        </p:txBody>
      </p:sp>
      <p:pic>
        <p:nvPicPr>
          <p:cNvPr id="4" name="Content Placeholder 3" descr="A computer screen shot of a computer&#10;&#10;AI-generated content may be incorrect.">
            <a:extLst>
              <a:ext uri="{FF2B5EF4-FFF2-40B4-BE49-F238E27FC236}">
                <a16:creationId xmlns:a16="http://schemas.microsoft.com/office/drawing/2014/main" xmlns="" id="{E45B07A0-5138-630A-91AF-9C9B1867EE1A}"/>
              </a:ext>
            </a:extLst>
          </p:cNvPr>
          <p:cNvPicPr>
            <a:picLocks noGrp="1" noChangeAspect="1"/>
          </p:cNvPicPr>
          <p:nvPr>
            <p:ph idx="1"/>
          </p:nvPr>
        </p:nvPicPr>
        <p:blipFill rotWithShape="1">
          <a:blip r:embed="rId2"/>
          <a:srcRect b="4268"/>
          <a:stretch/>
        </p:blipFill>
        <p:spPr>
          <a:xfrm>
            <a:off x="0" y="1089984"/>
            <a:ext cx="12192000" cy="5768016"/>
          </a:xfrm>
          <a:prstGeom prst="rect">
            <a:avLst/>
          </a:prstGeom>
        </p:spPr>
      </p:pic>
    </p:spTree>
    <p:extLst>
      <p:ext uri="{BB962C8B-B14F-4D97-AF65-F5344CB8AC3E}">
        <p14:creationId xmlns:p14="http://schemas.microsoft.com/office/powerpoint/2010/main" val="3606672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47C5E2-7849-33E8-33E5-590D60E7F029}"/>
              </a:ext>
            </a:extLst>
          </p:cNvPr>
          <p:cNvSpPr>
            <a:spLocks noGrp="1"/>
          </p:cNvSpPr>
          <p:nvPr>
            <p:ph type="title"/>
          </p:nvPr>
        </p:nvSpPr>
        <p:spPr>
          <a:xfrm>
            <a:off x="0" y="142877"/>
            <a:ext cx="12192000" cy="1021277"/>
          </a:xfrm>
        </p:spPr>
        <p:txBody>
          <a:bodyPr>
            <a:normAutofit/>
          </a:bodyPr>
          <a:lstStyle/>
          <a:p>
            <a:r>
              <a:rPr lang="en-US" sz="3600" b="1" dirty="0">
                <a:latin typeface="Times New Roman" panose="02020603050405020304" pitchFamily="18" charset="0"/>
                <a:cs typeface="Times New Roman" panose="02020603050405020304" pitchFamily="18" charset="0"/>
              </a:rPr>
              <a:t>DYNAMIC LOGIC FULL SUBTRACTOR 8-BIT OUTPUT</a:t>
            </a:r>
          </a:p>
        </p:txBody>
      </p:sp>
      <p:pic>
        <p:nvPicPr>
          <p:cNvPr id="4" name="Content Placeholder 3" descr="A colorful lines on a white background&#10;&#10;AI-generated content may be incorrect.">
            <a:extLst>
              <a:ext uri="{FF2B5EF4-FFF2-40B4-BE49-F238E27FC236}">
                <a16:creationId xmlns:a16="http://schemas.microsoft.com/office/drawing/2014/main" xmlns="" id="{A2EA447E-E3AD-2610-2CD9-6392DDD0A13C}"/>
              </a:ext>
            </a:extLst>
          </p:cNvPr>
          <p:cNvPicPr>
            <a:picLocks noGrp="1" noChangeAspect="1"/>
          </p:cNvPicPr>
          <p:nvPr>
            <p:ph idx="1"/>
          </p:nvPr>
        </p:nvPicPr>
        <p:blipFill>
          <a:blip r:embed="rId2"/>
          <a:stretch>
            <a:fillRect/>
          </a:stretch>
        </p:blipFill>
        <p:spPr>
          <a:xfrm>
            <a:off x="0" y="1021279"/>
            <a:ext cx="12192000" cy="5836720"/>
          </a:xfrm>
          <a:prstGeom prst="rect">
            <a:avLst/>
          </a:prstGeom>
        </p:spPr>
      </p:pic>
    </p:spTree>
    <p:extLst>
      <p:ext uri="{BB962C8B-B14F-4D97-AF65-F5344CB8AC3E}">
        <p14:creationId xmlns:p14="http://schemas.microsoft.com/office/powerpoint/2010/main" val="2424510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CBC8ED-1668-8C35-B341-D20B26CE8D29}"/>
              </a:ext>
            </a:extLst>
          </p:cNvPr>
          <p:cNvSpPr>
            <a:spLocks noGrp="1"/>
          </p:cNvSpPr>
          <p:nvPr>
            <p:ph type="title"/>
          </p:nvPr>
        </p:nvSpPr>
        <p:spPr>
          <a:xfrm>
            <a:off x="0" y="157164"/>
            <a:ext cx="12192000" cy="1068778"/>
          </a:xfrm>
        </p:spPr>
        <p:txBody>
          <a:bodyPr>
            <a:normAutofit/>
          </a:bodyPr>
          <a:lstStyle/>
          <a:p>
            <a:r>
              <a:rPr lang="en-US" sz="3600" b="1" dirty="0">
                <a:latin typeface="Times New Roman" panose="02020603050405020304" pitchFamily="18" charset="0"/>
                <a:cs typeface="Times New Roman" panose="02020603050405020304" pitchFamily="18" charset="0"/>
              </a:rPr>
              <a:t>DYNAMIC LOGIC FULL SUBTRACTOR 8-BIT OUTPUT</a:t>
            </a:r>
          </a:p>
        </p:txBody>
      </p:sp>
      <p:pic>
        <p:nvPicPr>
          <p:cNvPr id="4" name="Content Placeholder 3" descr="A colorful lines on a white background&#10;&#10;AI-generated content may be incorrect.">
            <a:extLst>
              <a:ext uri="{FF2B5EF4-FFF2-40B4-BE49-F238E27FC236}">
                <a16:creationId xmlns:a16="http://schemas.microsoft.com/office/drawing/2014/main" xmlns="" id="{3E470868-1681-4A70-2B0E-905F361638A4}"/>
              </a:ext>
            </a:extLst>
          </p:cNvPr>
          <p:cNvPicPr>
            <a:picLocks noGrp="1" noChangeAspect="1"/>
          </p:cNvPicPr>
          <p:nvPr>
            <p:ph idx="1"/>
          </p:nvPr>
        </p:nvPicPr>
        <p:blipFill>
          <a:blip r:embed="rId2"/>
          <a:stretch>
            <a:fillRect/>
          </a:stretch>
        </p:blipFill>
        <p:spPr>
          <a:xfrm>
            <a:off x="-53824" y="1068779"/>
            <a:ext cx="12245824" cy="5789220"/>
          </a:xfrm>
          <a:prstGeom prst="rect">
            <a:avLst/>
          </a:prstGeom>
        </p:spPr>
      </p:pic>
    </p:spTree>
    <p:extLst>
      <p:ext uri="{BB962C8B-B14F-4D97-AF65-F5344CB8AC3E}">
        <p14:creationId xmlns:p14="http://schemas.microsoft.com/office/powerpoint/2010/main" val="1930314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CEA267-766F-D0BA-6F03-A0A04D1A727B}"/>
              </a:ext>
            </a:extLst>
          </p:cNvPr>
          <p:cNvSpPr>
            <a:spLocks noGrp="1"/>
          </p:cNvSpPr>
          <p:nvPr>
            <p:ph type="title"/>
          </p:nvPr>
        </p:nvSpPr>
        <p:spPr>
          <a:xfrm>
            <a:off x="0" y="195389"/>
            <a:ext cx="12192000" cy="961900"/>
          </a:xfrm>
        </p:spPr>
        <p:txBody>
          <a:bodyPr>
            <a:normAutofit/>
          </a:bodyPr>
          <a:lstStyle/>
          <a:p>
            <a:r>
              <a:rPr lang="en-US" sz="3600" b="1" dirty="0">
                <a:latin typeface="Times New Roman" panose="02020603050405020304" pitchFamily="18" charset="0"/>
                <a:cs typeface="Times New Roman" panose="02020603050405020304" pitchFamily="18" charset="0"/>
              </a:rPr>
              <a:t>DYNAMIC LOGIC FULL SUBTRACTOR 8-BIT OUTPUT</a:t>
            </a:r>
          </a:p>
        </p:txBody>
      </p:sp>
      <p:pic>
        <p:nvPicPr>
          <p:cNvPr id="6" name="Content Placeholder 5">
            <a:extLst>
              <a:ext uri="{FF2B5EF4-FFF2-40B4-BE49-F238E27FC236}">
                <a16:creationId xmlns:a16="http://schemas.microsoft.com/office/drawing/2014/main" xmlns="" id="{ACF2E4A8-8C92-38C9-D2D1-E3EB4E0AAB69}"/>
              </a:ext>
            </a:extLst>
          </p:cNvPr>
          <p:cNvPicPr>
            <a:picLocks noGrp="1" noChangeAspect="1"/>
          </p:cNvPicPr>
          <p:nvPr>
            <p:ph idx="1"/>
          </p:nvPr>
        </p:nvPicPr>
        <p:blipFill>
          <a:blip r:embed="rId2"/>
          <a:stretch>
            <a:fillRect/>
          </a:stretch>
        </p:blipFill>
        <p:spPr>
          <a:xfrm>
            <a:off x="0" y="1157289"/>
            <a:ext cx="12087225" cy="5700712"/>
          </a:xfrm>
          <a:prstGeom prst="rect">
            <a:avLst/>
          </a:prstGeom>
        </p:spPr>
      </p:pic>
    </p:spTree>
    <p:extLst>
      <p:ext uri="{BB962C8B-B14F-4D97-AF65-F5344CB8AC3E}">
        <p14:creationId xmlns:p14="http://schemas.microsoft.com/office/powerpoint/2010/main" val="191130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9" name="Picture 15" descr="A screenshot of a computer&#10;&#10;AI-generated content may be incorrect.">
            <a:extLst>
              <a:ext uri="{FF2B5EF4-FFF2-40B4-BE49-F238E27FC236}">
                <a16:creationId xmlns:a16="http://schemas.microsoft.com/office/drawing/2014/main" xmlns="" id="{1CADB606-6A4E-380E-6BFD-CF68D7D56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7574" y="1758039"/>
            <a:ext cx="4519531" cy="12700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
            <a:extLst>
              <a:ext uri="{FF2B5EF4-FFF2-40B4-BE49-F238E27FC236}">
                <a16:creationId xmlns:a16="http://schemas.microsoft.com/office/drawing/2014/main" xmlns="" id="{00654D1F-929B-972F-C87E-9BD4338DCB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089" y="4950698"/>
            <a:ext cx="5270500" cy="93980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6">
            <a:extLst>
              <a:ext uri="{FF2B5EF4-FFF2-40B4-BE49-F238E27FC236}">
                <a16:creationId xmlns:a16="http://schemas.microsoft.com/office/drawing/2014/main" xmlns="" id="{5F5DAF8C-79BD-B9A9-45E9-F0C356A946B6}"/>
              </a:ext>
            </a:extLst>
          </p:cNvPr>
          <p:cNvSpPr>
            <a:spLocks noChangeArrowheads="1"/>
          </p:cNvSpPr>
          <p:nvPr/>
        </p:nvSpPr>
        <p:spPr bwMode="auto">
          <a:xfrm>
            <a:off x="162007" y="830741"/>
            <a:ext cx="993066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POWER CALCULATION OF 8-BIT FULL SUBTARCTOR CIRCUIT (Dynamic logic) :</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Rectangle 17">
            <a:extLst>
              <a:ext uri="{FF2B5EF4-FFF2-40B4-BE49-F238E27FC236}">
                <a16:creationId xmlns:a16="http://schemas.microsoft.com/office/drawing/2014/main" xmlns="" id="{25D1B231-460F-8125-8BB0-AD3BCBE13F4D}"/>
              </a:ext>
            </a:extLst>
          </p:cNvPr>
          <p:cNvSpPr>
            <a:spLocks noChangeArrowheads="1"/>
          </p:cNvSpPr>
          <p:nvPr/>
        </p:nvSpPr>
        <p:spPr bwMode="auto">
          <a:xfrm>
            <a:off x="264374" y="3731876"/>
            <a:ext cx="9725932"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DELAY CALCULATION OF 8-BIT FULL SUBTARCTOR CIRCUIT(dynamic logic) :</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Bit 0 input to difference output delay</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8">
            <a:extLst>
              <a:ext uri="{FF2B5EF4-FFF2-40B4-BE49-F238E27FC236}">
                <a16:creationId xmlns:a16="http://schemas.microsoft.com/office/drawing/2014/main" xmlns="" id="{5084F37D-93F3-37D7-7719-175EE2AF9072}"/>
              </a:ext>
            </a:extLst>
          </p:cNvPr>
          <p:cNvSpPr>
            <a:spLocks noChangeArrowheads="1"/>
          </p:cNvSpPr>
          <p:nvPr/>
        </p:nvSpPr>
        <p:spPr bwMode="auto">
          <a:xfrm>
            <a:off x="685800" y="2667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581896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604E89C9-2903-F33D-5C58-F3054523FCFB}"/>
              </a:ext>
            </a:extLst>
          </p:cNvPr>
          <p:cNvSpPr>
            <a:spLocks noChangeArrowheads="1"/>
          </p:cNvSpPr>
          <p:nvPr/>
        </p:nvSpPr>
        <p:spPr bwMode="auto">
          <a:xfrm>
            <a:off x="3217477" y="5309220"/>
            <a:ext cx="402886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Bit 0 input to borrow output delay</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49" name="Picture 1" descr="A screenshot of a phone&#10;&#10;AI-generated content may be incorrect.">
            <a:extLst>
              <a:ext uri="{FF2B5EF4-FFF2-40B4-BE49-F238E27FC236}">
                <a16:creationId xmlns:a16="http://schemas.microsoft.com/office/drawing/2014/main" xmlns="" id="{9D4819C2-7305-FD55-AFCD-5D1B91A36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2463" y="2223063"/>
            <a:ext cx="5029200" cy="12319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xmlns="" id="{A2DDEC51-FB8B-E395-2E39-136C0BFB3602}"/>
              </a:ext>
            </a:extLst>
          </p:cNvPr>
          <p:cNvSpPr>
            <a:spLocks noChangeArrowheads="1"/>
          </p:cNvSpPr>
          <p:nvPr/>
        </p:nvSpPr>
        <p:spPr bwMode="auto">
          <a:xfrm>
            <a:off x="485775" y="17018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5">
            <a:extLst>
              <a:ext uri="{FF2B5EF4-FFF2-40B4-BE49-F238E27FC236}">
                <a16:creationId xmlns:a16="http://schemas.microsoft.com/office/drawing/2014/main" xmlns="" id="{D961C766-8653-1564-2A69-ADD715F3FA84}"/>
              </a:ext>
            </a:extLst>
          </p:cNvPr>
          <p:cNvSpPr>
            <a:spLocks noChangeArrowheads="1"/>
          </p:cNvSpPr>
          <p:nvPr/>
        </p:nvSpPr>
        <p:spPr bwMode="auto">
          <a:xfrm>
            <a:off x="485775" y="417650"/>
            <a:ext cx="988257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POWER CALCULATION OF 8-BIT FULL SUBTARCTOR CIRCUIT (Pseudo NMOS</a:t>
            </a:r>
            <a:r>
              <a:rPr kumimoji="0" lang="en-US" altLang="en-US" sz="1600" b="0"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2" name="Picture 1">
            <a:extLst>
              <a:ext uri="{FF2B5EF4-FFF2-40B4-BE49-F238E27FC236}">
                <a16:creationId xmlns:a16="http://schemas.microsoft.com/office/drawing/2014/main" xmlns="" id="{6A6207F9-D027-D2F8-3E66-12411207A0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1863" y="884895"/>
            <a:ext cx="4470400" cy="7747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xmlns="" id="{6523EC21-6C66-574B-1A94-0F308AC95B07}"/>
              </a:ext>
            </a:extLst>
          </p:cNvPr>
          <p:cNvSpPr>
            <a:spLocks noChangeArrowheads="1"/>
          </p:cNvSpPr>
          <p:nvPr/>
        </p:nvSpPr>
        <p:spPr bwMode="auto">
          <a:xfrm>
            <a:off x="0" y="1231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56" name="Picture 8">
            <a:extLst>
              <a:ext uri="{FF2B5EF4-FFF2-40B4-BE49-F238E27FC236}">
                <a16:creationId xmlns:a16="http://schemas.microsoft.com/office/drawing/2014/main" xmlns="" id="{9D05A35B-F828-8491-76A5-916B22B2F1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5357" y="4145998"/>
            <a:ext cx="5753100" cy="1003300"/>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1">
            <a:extLst>
              <a:ext uri="{FF2B5EF4-FFF2-40B4-BE49-F238E27FC236}">
                <a16:creationId xmlns:a16="http://schemas.microsoft.com/office/drawing/2014/main" xmlns="" id="{71DBB632-A088-CBA4-2CD8-307F3410BC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4912" y="5779417"/>
            <a:ext cx="5664200" cy="10287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9">
            <a:extLst>
              <a:ext uri="{FF2B5EF4-FFF2-40B4-BE49-F238E27FC236}">
                <a16:creationId xmlns:a16="http://schemas.microsoft.com/office/drawing/2014/main" xmlns="" id="{FA7967E8-1F5A-01F2-C91E-DBB22FC939AC}"/>
              </a:ext>
            </a:extLst>
          </p:cNvPr>
          <p:cNvSpPr>
            <a:spLocks noChangeArrowheads="1"/>
          </p:cNvSpPr>
          <p:nvPr/>
        </p:nvSpPr>
        <p:spPr bwMode="auto">
          <a:xfrm>
            <a:off x="1240886" y="3387672"/>
            <a:ext cx="988802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DELAY CALCULATION OF 8-BIT FULL SUBTARCTOR CIRCUIT  (Pseudo </a:t>
            </a:r>
            <a:r>
              <a:rPr kumimoji="0" lang="en-US" altLang="en-US" sz="2000" b="1" i="0" u="none" strike="noStrike" cap="none" normalizeH="0" baseline="0" dirty="0" smtClean="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NMOS):</a:t>
            </a:r>
            <a:endPar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Bit 0 input to difference output delay</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0">
            <a:extLst>
              <a:ext uri="{FF2B5EF4-FFF2-40B4-BE49-F238E27FC236}">
                <a16:creationId xmlns:a16="http://schemas.microsoft.com/office/drawing/2014/main" xmlns="" id="{A2347C91-E49D-DDB5-A7EB-A16CAF2CA343}"/>
              </a:ext>
            </a:extLst>
          </p:cNvPr>
          <p:cNvSpPr>
            <a:spLocks noChangeArrowheads="1"/>
          </p:cNvSpPr>
          <p:nvPr/>
        </p:nvSpPr>
        <p:spPr bwMode="auto">
          <a:xfrm>
            <a:off x="3412633" y="1864430"/>
            <a:ext cx="402886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Bit 0 input to borrow output delay</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11">
            <a:extLst>
              <a:ext uri="{FF2B5EF4-FFF2-40B4-BE49-F238E27FC236}">
                <a16:creationId xmlns:a16="http://schemas.microsoft.com/office/drawing/2014/main" xmlns="" id="{9E57D849-7D1F-BEA8-DDB6-A5664623DB61}"/>
              </a:ext>
            </a:extLst>
          </p:cNvPr>
          <p:cNvSpPr>
            <a:spLocks noChangeArrowheads="1"/>
          </p:cNvSpPr>
          <p:nvPr/>
        </p:nvSpPr>
        <p:spPr bwMode="auto">
          <a:xfrm>
            <a:off x="685800" y="2946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583408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D6DB39-8F97-E848-7209-70222A40EEC0}"/>
              </a:ext>
            </a:extLst>
          </p:cNvPr>
          <p:cNvSpPr>
            <a:spLocks noGrp="1"/>
          </p:cNvSpPr>
          <p:nvPr>
            <p:ph type="title"/>
          </p:nvPr>
        </p:nvSpPr>
        <p:spPr/>
        <p:txBody>
          <a:bodyPr/>
          <a:lstStyle/>
          <a:p>
            <a:pPr algn="ctr"/>
            <a:r>
              <a:rPr lang="en-US" sz="4000" b="1" dirty="0">
                <a:latin typeface="Times New Roman" panose="02020603050405020304" pitchFamily="18" charset="0"/>
                <a:cs typeface="Times New Roman" panose="02020603050405020304" pitchFamily="18" charset="0"/>
              </a:rPr>
              <a:t>PAPER REFFERED </a:t>
            </a:r>
          </a:p>
        </p:txBody>
      </p:sp>
      <p:sp>
        <p:nvSpPr>
          <p:cNvPr id="3" name="Content Placeholder 2">
            <a:extLst>
              <a:ext uri="{FF2B5EF4-FFF2-40B4-BE49-F238E27FC236}">
                <a16:creationId xmlns:a16="http://schemas.microsoft.com/office/drawing/2014/main" xmlns="" id="{92B86588-5BF6-F709-C773-9E6E5F6BB84F}"/>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hlinkClick r:id="rId2"/>
              </a:rPr>
              <a:t>https://www.ijera.com/papers/Vol3_issue5/LO3519791983.pdf</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hlinkClick r:id="rId3"/>
              </a:rPr>
              <a:t>https://www.google.com/url?sa=t&amp;source=web&amp;rct=j&amp;opi=89978449&amp;url=https://sbmicro.org.br/sforum-eventos/sforum2001/godoi.pdf&amp;ved=2ahUKEwiik5PI07CLAxUVSmwGHeYmN0UQFnoECCgQAQ&amp;sqi=2&amp;usg=AOvVaw2oc2btt1uS-tOxObN9qhbn</a:t>
            </a: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360678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B768BC-33A2-2C39-B649-B1D4A164D36D}"/>
              </a:ext>
            </a:extLst>
          </p:cNvPr>
          <p:cNvSpPr>
            <a:spLocks noGrp="1"/>
          </p:cNvSpPr>
          <p:nvPr>
            <p:ph type="title"/>
          </p:nvPr>
        </p:nvSpPr>
        <p:spPr>
          <a:xfrm>
            <a:off x="0" y="2743201"/>
            <a:ext cx="12192000" cy="6858000"/>
          </a:xfrm>
        </p:spPr>
        <p:txBody>
          <a:bodyPr/>
          <a:lstStyle/>
          <a:p>
            <a:pPr algn="ctr"/>
            <a:r>
              <a:rPr lang="en-US" sz="88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9060336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5</TotalTime>
  <Words>279</Words>
  <Application>Microsoft Office PowerPoint</Application>
  <PresentationFormat>Widescreen</PresentationFormat>
  <Paragraphs>47</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Arial</vt:lpstr>
      <vt:lpstr>Calibri</vt:lpstr>
      <vt:lpstr>Century Gothic</vt:lpstr>
      <vt:lpstr>Times New Roman</vt:lpstr>
      <vt:lpstr>Wingdings 3</vt:lpstr>
      <vt:lpstr>Ion</vt:lpstr>
      <vt:lpstr>          VLSI SYSTEM DESIGN-BECE303L  PROJECT REVIEW TITLE  Binary subtractor circuit design using different approaches to trade-off delay and area. </vt:lpstr>
      <vt:lpstr>1-BIT BINARY SUBTRACTOR DIAGRAM</vt:lpstr>
      <vt:lpstr>SUBTRACTOR CIRCUIT </vt:lpstr>
      <vt:lpstr>Ripple Borrow Subtractor</vt:lpstr>
      <vt:lpstr>CADENCE CIRCUIT DIAGRAM - NAND</vt:lpstr>
      <vt:lpstr>CADENCE CIRCUIT DIAGRAM – NAND OP</vt:lpstr>
      <vt:lpstr>CADENCE CIRCUIT DIAGRAM - AND</vt:lpstr>
      <vt:lpstr>CADENCE CIRCUIT DIAGRAM – AND OP</vt:lpstr>
      <vt:lpstr>CADENCE CIRCUIT DIAGRAM - OR</vt:lpstr>
      <vt:lpstr>CADENCE CIRCUIT DIAGRAM – OR OP</vt:lpstr>
      <vt:lpstr>CADENCE CIRCUIT DIAGRAM - XOR</vt:lpstr>
      <vt:lpstr>CADENCE CIRCUIT DIAGRAM – XOR OP</vt:lpstr>
      <vt:lpstr>CADENCE CIRCUIT DIAGRAM – FULL SUBTRACTOR</vt:lpstr>
      <vt:lpstr>CADENCE CIRCUIT DIAGRAM – FULL SUBTRACTOR OP</vt:lpstr>
      <vt:lpstr>CADENCE CIRCUIT DIAGRAM – FULL SUBTRACTOR OP 1</vt:lpstr>
      <vt:lpstr>PSEDUO NMOS FULL SUBTRACTOR OUTPUT</vt:lpstr>
      <vt:lpstr>PSEDUO NMOS FULL SUBTRACTOR 8-BIT CIRCUIT</vt:lpstr>
      <vt:lpstr>PSEDUO NMOS 8-BIT FULL SUBTRACTOR CIRCUIT OUTPUT :  </vt:lpstr>
      <vt:lpstr>DYNAMIC LOGIC FULL SUBTRACTOR 8-BIT CIRCUIT</vt:lpstr>
      <vt:lpstr>DYNAMIC LOGIC FULL SUBTRACTOR 8-BIT OUTPUT</vt:lpstr>
      <vt:lpstr>DYNAMIC LOGIC FULL SUBTRACTOR 8-BIT OUTPUT</vt:lpstr>
      <vt:lpstr>DYNAMIC LOGIC FULL SUBTRACTOR 8-BIT OUTPUT</vt:lpstr>
      <vt:lpstr>PowerPoint Presentation</vt:lpstr>
      <vt:lpstr>PowerPoint Presentation</vt:lpstr>
      <vt:lpstr>PAPER REFFERED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VLSI SYSTEM DESIGN-BECE303L  PROJECT REVIEW TITLE  Binary subtractor circuit design using different approaches to trade-off delay and area. </dc:title>
  <dc:creator>Microsoft account</dc:creator>
  <cp:lastModifiedBy>Microsoft account</cp:lastModifiedBy>
  <cp:revision>1</cp:revision>
  <dcterms:created xsi:type="dcterms:W3CDTF">2025-04-24T19:59:18Z</dcterms:created>
  <dcterms:modified xsi:type="dcterms:W3CDTF">2025-04-24T20:04:44Z</dcterms:modified>
</cp:coreProperties>
</file>